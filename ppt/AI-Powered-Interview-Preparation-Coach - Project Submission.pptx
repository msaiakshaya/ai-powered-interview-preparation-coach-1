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72" r:id="rId11"/>
    <p:sldId id="273" r:id="rId12"/>
    <p:sldId id="266" r:id="rId13"/>
    <p:sldId id="267" r:id="rId14"/>
    <p:sldId id="268" r:id="rId15"/>
    <p:sldId id="269"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bikeCard"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528272813"/>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   M S AKSHAYA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msaiakshaya09@gmail.com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9182882736</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102321" y="1404233"/>
            <a:ext cx="10280254"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Education / Career Development (Interview Preparation)</a:t>
            </a:r>
            <a:endParaRPr sz="24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2060"/>
                </a:solidFill>
                <a:latin typeface="Times New Roman"/>
                <a:ea typeface="Times New Roman"/>
                <a:cs typeface="Times New Roman"/>
                <a:sym typeface="Times New Roman"/>
              </a:rPr>
              <a:t>AI-Powered Interview Preparation Coach</a:t>
            </a:r>
            <a:endParaRPr sz="24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C12B0748-B86F-D966-9E86-8EC04FE4D2EA}"/>
              </a:ext>
            </a:extLst>
          </p:cNvPr>
          <p:cNvPicPr>
            <a:picLocks noChangeAspect="1"/>
          </p:cNvPicPr>
          <p:nvPr/>
        </p:nvPicPr>
        <p:blipFill>
          <a:blip r:embed="rId3"/>
          <a:stretch>
            <a:fillRect/>
          </a:stretch>
        </p:blipFill>
        <p:spPr>
          <a:xfrm>
            <a:off x="4080387" y="3683877"/>
            <a:ext cx="1170039" cy="8843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0475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Problem Statement : AI-Powered Interview Preparation Coach</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Challenge</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Candidates preparing for interviews often struggle to get </a:t>
            </a:r>
            <a:r>
              <a:rPr lang="en-US" sz="1400" b="1" i="0" u="none" strike="noStrike" cap="none">
                <a:solidFill>
                  <a:srgbClr val="000000"/>
                </a:solidFill>
                <a:latin typeface="Arial"/>
                <a:ea typeface="Arial"/>
                <a:cs typeface="Arial"/>
                <a:sym typeface="Arial"/>
              </a:rPr>
              <a:t>realistic, tailored practice and honest feedback</a:t>
            </a:r>
            <a:r>
              <a:rPr lang="en-US" sz="1400" b="0" i="0" u="none" strike="noStrike" cap="none">
                <a:solidFill>
                  <a:srgbClr val="000000"/>
                </a:solidFill>
                <a:latin typeface="Arial"/>
                <a:ea typeface="Arial"/>
                <a:cs typeface="Arial"/>
                <a:sym typeface="Arial"/>
              </a:rPr>
              <a:t>. Generic question banks ignore their actual resume and the specific job they are applying for, and there is rarely anyone available on demand to critique the structure, relevance, and pacing of a practice answer.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Objective</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Build an </a:t>
            </a:r>
            <a:r>
              <a:rPr lang="en-US" sz="1400" b="1" i="0" u="none" strike="noStrike" cap="none">
                <a:solidFill>
                  <a:srgbClr val="000000"/>
                </a:solidFill>
                <a:latin typeface="Arial"/>
                <a:ea typeface="Arial"/>
                <a:cs typeface="Arial"/>
                <a:sym typeface="Arial"/>
              </a:rPr>
              <a:t>AI-powered Interview Preparation Coach</a:t>
            </a:r>
            <a:r>
              <a:rPr lang="en-US" sz="1400" b="0" i="0" u="none" strike="noStrike" cap="none">
                <a:solidFill>
                  <a:srgbClr val="000000"/>
                </a:solidFill>
                <a:latin typeface="Arial"/>
                <a:ea typeface="Arial"/>
                <a:cs typeface="Arial"/>
                <a:sym typeface="Arial"/>
              </a:rPr>
              <a:t> that gives candidates </a:t>
            </a:r>
            <a:r>
              <a:rPr lang="en-US" sz="1400" b="1" i="0" u="none" strike="noStrike" cap="none">
                <a:solidFill>
                  <a:srgbClr val="000000"/>
                </a:solidFill>
                <a:latin typeface="Arial"/>
                <a:ea typeface="Arial"/>
                <a:cs typeface="Arial"/>
                <a:sym typeface="Arial"/>
              </a:rPr>
              <a:t>realistic, tailored mock interviews and instant feedback</a:t>
            </a:r>
            <a:r>
              <a:rPr lang="en-US" sz="1400" b="0" i="0" u="none" strike="noStrike" cap="none">
                <a:solidFill>
                  <a:srgbClr val="000000"/>
                </a:solidFill>
                <a:latin typeface="Arial"/>
                <a:ea typeface="Arial"/>
                <a:cs typeface="Arial"/>
                <a:sym typeface="Arial"/>
              </a:rPr>
              <a:t> so they can practice and improve before the real thing. The solution should: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Tailored Question Generation</a:t>
            </a:r>
            <a:r>
              <a:rPr lang="en-US" sz="1400" b="0" i="0" u="none" strike="noStrike" cap="none">
                <a:solidFill>
                  <a:srgbClr val="000000"/>
                </a:solidFill>
                <a:latin typeface="Arial"/>
                <a:ea typeface="Arial"/>
                <a:cs typeface="Arial"/>
                <a:sym typeface="Arial"/>
              </a:rPr>
              <a:t> – Generate interview questions from the candidate's resume, the job description, and (optionally) the target company.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Adjustable Type &amp; Difficulty</a:t>
            </a:r>
            <a:r>
              <a:rPr lang="en-US" sz="1400" b="0" i="0" u="none" strike="noStrike" cap="none">
                <a:solidFill>
                  <a:srgbClr val="000000"/>
                </a:solidFill>
                <a:latin typeface="Arial"/>
                <a:ea typeface="Arial"/>
                <a:cs typeface="Arial"/>
                <a:sym typeface="Arial"/>
              </a:rPr>
              <a:t> – Support Behavioral, Technical, and HR interview styles across Beginner, Intermediate, and Advanced difficulty.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Typed Answer Practice</a:t>
            </a:r>
            <a:r>
              <a:rPr lang="en-US" sz="1400" b="0" i="0" u="none" strike="noStrike" cap="none">
                <a:solidFill>
                  <a:srgbClr val="000000"/>
                </a:solidFill>
                <a:latin typeface="Arial"/>
                <a:ea typeface="Arial"/>
                <a:cs typeface="Arial"/>
                <a:sym typeface="Arial"/>
              </a:rPr>
              <a:t> – Let candidates type their answers directly, keeping the experience fast and accessible anywhere.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Instant, Structured Feedback</a:t>
            </a:r>
            <a:r>
              <a:rPr lang="en-US" sz="1400" b="0" i="0" u="none" strike="noStrike" cap="none">
                <a:solidFill>
                  <a:srgbClr val="000000"/>
                </a:solidFill>
                <a:latin typeface="Arial"/>
                <a:ea typeface="Arial"/>
                <a:cs typeface="Arial"/>
                <a:sym typeface="Arial"/>
              </a:rPr>
              <a:t> – Score relevance, check STAR structure, flag filler words/hesitation, and comment on pacing for every answer.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Core AI Modules</a:t>
            </a:r>
            <a:r>
              <a:rPr lang="en-US" sz="1400" b="0" i="0" u="none" strike="noStrike" cap="none">
                <a:solidFill>
                  <a:srgbClr val="000000"/>
                </a:solidFill>
                <a:latin typeface="Arial"/>
                <a:ea typeface="Arial"/>
                <a:cs typeface="Arial"/>
                <a:sym typeface="Arial"/>
              </a:rPr>
              <a:t> –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Question Generator</a:t>
            </a:r>
            <a:r>
              <a:rPr lang="en-US" sz="1400" b="0" i="0" u="none" strike="noStrike" cap="none">
                <a:solidFill>
                  <a:srgbClr val="000000"/>
                </a:solidFill>
                <a:latin typeface="Arial"/>
                <a:ea typeface="Arial"/>
                <a:cs typeface="Arial"/>
                <a:sym typeface="Arial"/>
              </a:rPr>
              <a:t> (builds tailored questions from resume + job description)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Answer Analyzer</a:t>
            </a:r>
            <a:r>
              <a:rPr lang="en-US" sz="1400" b="0" i="0" u="none" strike="noStrike" cap="none">
                <a:solidFill>
                  <a:srgbClr val="000000"/>
                </a:solidFill>
                <a:latin typeface="Arial"/>
                <a:ea typeface="Arial"/>
                <a:cs typeface="Arial"/>
                <a:sym typeface="Arial"/>
              </a:rPr>
              <a:t> (scores and critiques each typed answer)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Resume Parser</a:t>
            </a:r>
            <a:r>
              <a:rPr lang="en-US" sz="1400" b="0" i="0" u="none" strike="noStrike" cap="none">
                <a:solidFill>
                  <a:srgbClr val="000000"/>
                </a:solidFill>
                <a:latin typeface="Arial"/>
                <a:ea typeface="Arial"/>
                <a:cs typeface="Arial"/>
                <a:sym typeface="Arial"/>
              </a:rPr>
              <a:t> (extracts resume text from the uploaded PDF)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Skill-Gap Roadmap Builder</a:t>
            </a:r>
            <a:r>
              <a:rPr lang="en-US" sz="1400" b="0" i="0" u="none" strike="noStrike" cap="none">
                <a:solidFill>
                  <a:srgbClr val="000000"/>
                </a:solidFill>
                <a:latin typeface="Arial"/>
                <a:ea typeface="Arial"/>
                <a:cs typeface="Arial"/>
                <a:sym typeface="Arial"/>
              </a:rPr>
              <a:t> (compares resume vs. JD, plans what to study)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Skill Roadmap Dashboard</a:t>
            </a:r>
            <a:r>
              <a:rPr lang="en-US" sz="1400" b="0" i="0" u="none" strike="noStrike" cap="none">
                <a:solidFill>
                  <a:srgbClr val="000000"/>
                </a:solidFill>
                <a:latin typeface="Arial"/>
                <a:ea typeface="Arial"/>
                <a:cs typeface="Arial"/>
                <a:sym typeface="Arial"/>
              </a:rPr>
              <a:t> – Show matched skills vs. gap skills, with topics to study and an estimated time to interview-ready for each gap.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Proposed Solution: AI-Powered Interview Preparation Coach</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proposed solution is a </a:t>
            </a:r>
            <a:r>
              <a:rPr lang="en-US" sz="1400" b="1" i="0" u="none" strike="noStrike" cap="none">
                <a:solidFill>
                  <a:srgbClr val="000000"/>
                </a:solidFill>
                <a:latin typeface="Arial"/>
                <a:ea typeface="Arial"/>
                <a:cs typeface="Arial"/>
                <a:sym typeface="Arial"/>
              </a:rPr>
              <a:t>resume- and job-description-aware mock interview coach</a:t>
            </a:r>
            <a:r>
              <a:rPr lang="en-US" sz="1400" b="0" i="0" u="none" strike="noStrike" cap="none">
                <a:solidFill>
                  <a:srgbClr val="000000"/>
                </a:solidFill>
                <a:latin typeface="Arial"/>
                <a:ea typeface="Arial"/>
                <a:cs typeface="Arial"/>
                <a:sym typeface="Arial"/>
              </a:rPr>
              <a:t> built using </a:t>
            </a:r>
            <a:r>
              <a:rPr lang="en-US" sz="1400" b="1" i="0" u="none" strike="noStrike" cap="none">
                <a:solidFill>
                  <a:srgbClr val="000000"/>
                </a:solidFill>
                <a:latin typeface="Arial"/>
                <a:ea typeface="Arial"/>
                <a:cs typeface="Arial"/>
                <a:sym typeface="Arial"/>
              </a:rPr>
              <a:t>IBM watsonx.ai and the IBM Granite Foundation Model</a:t>
            </a:r>
            <a:r>
              <a:rPr lang="en-US" sz="1400" b="0" i="0" u="none" strike="noStrike" cap="none">
                <a:solidFill>
                  <a:srgbClr val="000000"/>
                </a:solidFill>
                <a:latin typeface="Arial"/>
                <a:ea typeface="Arial"/>
                <a:cs typeface="Arial"/>
                <a:sym typeface="Arial"/>
              </a:rPr>
              <a:t> to generate tailored interview questions and give instant, structured feedback on typed answers. The system addresses gaps in interview preparation through a lightweight, modular Streamlit application.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At its core, the solution extracts the candidate's </a:t>
            </a:r>
            <a:r>
              <a:rPr lang="en-US" sz="1400" b="1" i="0" u="none" strike="noStrike" cap="none">
                <a:solidFill>
                  <a:srgbClr val="000000"/>
                </a:solidFill>
                <a:latin typeface="Arial"/>
                <a:ea typeface="Arial"/>
                <a:cs typeface="Arial"/>
                <a:sym typeface="Arial"/>
              </a:rPr>
              <a:t>resume text via pdfplumber</a:t>
            </a:r>
            <a:r>
              <a:rPr lang="en-US" sz="1400" b="0" i="0" u="none" strike="noStrike" cap="none">
                <a:solidFill>
                  <a:srgbClr val="000000"/>
                </a:solidFill>
                <a:latin typeface="Arial"/>
                <a:ea typeface="Arial"/>
                <a:cs typeface="Arial"/>
                <a:sym typeface="Arial"/>
              </a:rPr>
              <a:t> and combines it with the job description and target company as context for every model call, so every question and every piece of feedback is grounded in the candidate's actual background and the job's actual requirements — no static question bank required.</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system consists of four core modules:</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Resume Parser</a:t>
            </a:r>
            <a:r>
              <a:rPr lang="en-US" sz="1400" b="0" i="0" u="none" strike="noStrike" cap="none">
                <a:solidFill>
                  <a:srgbClr val="000000"/>
                </a:solidFill>
                <a:latin typeface="Arial"/>
                <a:ea typeface="Arial"/>
                <a:cs typeface="Arial"/>
                <a:sym typeface="Arial"/>
              </a:rPr>
              <a:t> extracts plain text from the candidate's uploaded PDF resume.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Question Generator</a:t>
            </a:r>
            <a:r>
              <a:rPr lang="en-US" sz="1400" b="0" i="0" u="none" strike="noStrike" cap="none">
                <a:solidFill>
                  <a:srgbClr val="000000"/>
                </a:solidFill>
                <a:latin typeface="Arial"/>
                <a:ea typeface="Arial"/>
                <a:cs typeface="Arial"/>
                <a:sym typeface="Arial"/>
              </a:rPr>
              <a:t> crafts interview questions tailored to interview type (Behavioral/Technical/HR), difficulty, resume, job description, and target company.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Answer Analyzer</a:t>
            </a:r>
            <a:r>
              <a:rPr lang="en-US" sz="1400" b="0" i="0" u="none" strike="noStrike" cap="none">
                <a:solidFill>
                  <a:srgbClr val="000000"/>
                </a:solidFill>
                <a:latin typeface="Arial"/>
                <a:ea typeface="Arial"/>
                <a:cs typeface="Arial"/>
                <a:sym typeface="Arial"/>
              </a:rPr>
              <a:t> scores each typed answer for relevance, STAR structure, filler words, and pacing, and gives a concrete improvement suggestion.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Skill-Gap Roadmap Builder</a:t>
            </a:r>
            <a:r>
              <a:rPr lang="en-US" sz="1400" b="0" i="0" u="none" strike="noStrike" cap="none">
                <a:solidFill>
                  <a:srgbClr val="000000"/>
                </a:solidFill>
                <a:latin typeface="Arial"/>
                <a:ea typeface="Arial"/>
                <a:cs typeface="Arial"/>
                <a:sym typeface="Arial"/>
              </a:rPr>
              <a:t> compares resume skills against the job description and produces a prioritized study plan with topics and an estimated time per gap.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solution includes a </a:t>
            </a:r>
            <a:r>
              <a:rPr lang="en-US" sz="1400" b="1" i="0" u="none" strike="noStrike" cap="none">
                <a:solidFill>
                  <a:srgbClr val="000000"/>
                </a:solidFill>
                <a:latin typeface="Arial"/>
                <a:ea typeface="Arial"/>
                <a:cs typeface="Arial"/>
                <a:sym typeface="Arial"/>
              </a:rPr>
              <a:t>Streamlit dashboard</a:t>
            </a:r>
            <a:r>
              <a:rPr lang="en-US" sz="1400" b="0" i="0" u="none" strike="noStrike" cap="none">
                <a:solidFill>
                  <a:srgbClr val="000000"/>
                </a:solidFill>
                <a:latin typeface="Arial"/>
                <a:ea typeface="Arial"/>
                <a:cs typeface="Arial"/>
                <a:sym typeface="Arial"/>
              </a:rPr>
              <a:t> that walks the candidate through mock interview questions one at a time and shows the skill-gap roadmap in an easy-to-scan layout.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All AI calls run directly against the IBM Granite Foundation Model hosted on IBM watsonx.ai — question generation, answer feedback, and skill-gap analysis all share one model client, keeping the architecture simple to run, explain, and extend.</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this solution delivers an </a:t>
            </a:r>
            <a:r>
              <a:rPr lang="en-US" sz="1400" b="1" i="0" u="none" strike="noStrike" cap="none">
                <a:solidFill>
                  <a:srgbClr val="000000"/>
                </a:solidFill>
                <a:latin typeface="Arial"/>
                <a:ea typeface="Arial"/>
                <a:cs typeface="Arial"/>
                <a:sym typeface="Arial"/>
              </a:rPr>
              <a:t>end-to-end mock interview coach</a:t>
            </a:r>
            <a:r>
              <a:rPr lang="en-US" sz="1400" b="0" i="0" u="none" strike="noStrike" cap="none">
                <a:solidFill>
                  <a:srgbClr val="000000"/>
                </a:solidFill>
                <a:latin typeface="Arial"/>
                <a:ea typeface="Arial"/>
                <a:cs typeface="Arial"/>
                <a:sym typeface="Arial"/>
              </a:rPr>
              <a:t> that promotes interview readiness through personalized questions, real-time feedback, and a clear roadmap for closing skill gaps.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Streamlit </a:t>
            </a:r>
            <a:r>
              <a:rPr lang="en-US" sz="1800" b="0" i="0" u="none" strike="noStrike" cap="none">
                <a:solidFill>
                  <a:srgbClr val="000000"/>
                </a:solidFill>
                <a:latin typeface="Arial"/>
                <a:ea typeface="Arial"/>
                <a:cs typeface="Arial"/>
                <a:sym typeface="Arial"/>
              </a:rPr>
              <a:t>– For building the interactive web app (resume upload, mock interview flow, feedback display, roadmap tab)</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Granite / watsonx.ai Foundation Model </a:t>
            </a:r>
            <a:r>
              <a:rPr lang="en-US" sz="1800" b="0" i="0" u="none" strike="noStrike" cap="none">
                <a:solidFill>
                  <a:srgbClr val="000000"/>
                </a:solidFill>
                <a:latin typeface="Arial"/>
                <a:ea typeface="Arial"/>
                <a:cs typeface="Arial"/>
                <a:sym typeface="Arial"/>
              </a:rPr>
              <a:t>– configurable via the MODEL_ID setting – For natural language understanding, question generation, and feedback reasoning</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Cloud </a:t>
            </a:r>
            <a:r>
              <a:rPr lang="en-US" sz="1800" b="0" i="0" u="none" strike="noStrike" cap="none">
                <a:solidFill>
                  <a:srgbClr val="000000"/>
                </a:solidFill>
                <a:latin typeface="Arial"/>
                <a:ea typeface="Arial"/>
                <a:cs typeface="Arial"/>
                <a:sym typeface="Arial"/>
              </a:rPr>
              <a:t>– It provides the infrastructure to build, deploy, and scale the Interview Prep Coach efficiently. IBM Cloud enables a </a:t>
            </a:r>
            <a:r>
              <a:rPr lang="en-US" sz="1800" b="1" i="0" u="none" strike="noStrike" cap="none">
                <a:solidFill>
                  <a:srgbClr val="000000"/>
                </a:solidFill>
                <a:latin typeface="Arial"/>
                <a:ea typeface="Arial"/>
                <a:cs typeface="Arial"/>
                <a:sym typeface="Arial"/>
              </a:rPr>
              <a:t>reliable, secure, and scalable environment</a:t>
            </a:r>
            <a:r>
              <a:rPr lang="en-US" sz="1800" b="0" i="0" u="none" strike="noStrike" cap="none">
                <a:solidFill>
                  <a:srgbClr val="000000"/>
                </a:solidFill>
                <a:latin typeface="Arial"/>
                <a:ea typeface="Arial"/>
                <a:cs typeface="Arial"/>
                <a:sym typeface="Arial"/>
              </a:rPr>
              <a:t> for hosting the app.</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pdfplumber – </a:t>
            </a:r>
            <a:r>
              <a:rPr lang="en-US" sz="1800" b="0" i="0" u="none" strike="noStrike" cap="none">
                <a:solidFill>
                  <a:srgbClr val="000000"/>
                </a:solidFill>
                <a:latin typeface="Arial"/>
                <a:ea typeface="Arial"/>
                <a:cs typeface="Arial"/>
                <a:sym typeface="Arial"/>
              </a:rPr>
              <a:t>For extracting plain text </a:t>
            </a:r>
            <a:r>
              <a:rPr lang="en-US" sz="1800" b="1" i="0" u="none" strike="noStrike" cap="none">
                <a:solidFill>
                  <a:srgbClr val="000000"/>
                </a:solidFill>
                <a:latin typeface="Arial"/>
                <a:ea typeface="Arial"/>
                <a:cs typeface="Arial"/>
                <a:sym typeface="Arial"/>
              </a:rPr>
              <a:t>from the candidate's uploaded PDF resume</a:t>
            </a:r>
            <a:r>
              <a:rPr lang="en-US" sz="1800" b="0" i="0" u="none" strike="noStrike" cap="none">
                <a:solidFill>
                  <a:srgbClr val="000000"/>
                </a:solidFill>
                <a:latin typeface="Arial"/>
                <a:ea typeface="Arial"/>
                <a:cs typeface="Arial"/>
                <a:sym typeface="Arial"/>
              </a:rPr>
              <a:t>, used as context for every AI call.</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Watsonx.ai - </a:t>
            </a:r>
            <a:r>
              <a:rPr lang="en-US" sz="1800" b="0" i="0" u="none" strike="noStrike" cap="none">
                <a:solidFill>
                  <a:srgbClr val="000000"/>
                </a:solidFill>
                <a:latin typeface="Arial"/>
                <a:ea typeface="Arial"/>
                <a:cs typeface="Arial"/>
                <a:sym typeface="Arial"/>
              </a:rPr>
              <a:t>For hosted foundation-model inference, deployment, and AI governance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python-dotenv </a:t>
            </a:r>
            <a:r>
              <a:rPr lang="en-US" sz="1800" b="0" i="0" u="none" strike="noStrike" cap="none">
                <a:solidFill>
                  <a:srgbClr val="000000"/>
                </a:solidFill>
                <a:latin typeface="Arial"/>
                <a:ea typeface="Arial"/>
                <a:cs typeface="Arial"/>
                <a:sym typeface="Arial"/>
              </a:rPr>
              <a:t>– For managing IBM Cloud credentials and configuration via a local .env file</a:t>
            </a: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mj-lt"/>
                <a:ea typeface="Arial"/>
                <a:cs typeface="Arial"/>
                <a:sym typeface="Arial"/>
              </a:rPr>
              <a:t>Core</a:t>
            </a:r>
            <a:r>
              <a:rPr lang="en-US" sz="2400" b="1" i="0" u="none" strike="noStrike" cap="none" dirty="0">
                <a:solidFill>
                  <a:srgbClr val="051D3A"/>
                </a:solidFill>
                <a:latin typeface="+mj-lt"/>
                <a:ea typeface="Times New Roman"/>
                <a:cs typeface="Times New Roman"/>
                <a:sym typeface="Times New Roman"/>
              </a:rPr>
              <a:t> Application </a:t>
            </a:r>
            <a:r>
              <a:rPr lang="en-US" sz="2400" b="1" i="0" u="none" strike="noStrike" cap="none" dirty="0">
                <a:solidFill>
                  <a:srgbClr val="000000"/>
                </a:solidFill>
                <a:latin typeface="+mj-lt"/>
                <a:ea typeface="Arial"/>
                <a:cs typeface="Arial"/>
                <a:sym typeface="Arial"/>
              </a:rPr>
              <a:t>Components Used </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54783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Sidebar Inputs </a:t>
            </a:r>
            <a:r>
              <a:rPr lang="en-US" sz="1400" b="0" i="0" u="none" strike="noStrike" cap="none" dirty="0">
                <a:solidFill>
                  <a:srgbClr val="000000"/>
                </a:solidFill>
                <a:latin typeface="Arial"/>
                <a:ea typeface="Arial"/>
                <a:cs typeface="Arial"/>
                <a:sym typeface="Arial"/>
              </a:rPr>
              <a:t>– Where candidates upload their resume PDF, paste the job description, and optionally enter a target company.</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ai_engine.py (watsonx.ai client) </a:t>
            </a:r>
            <a:r>
              <a:rPr lang="en-US" sz="1400" b="0" i="0" u="none" strike="noStrike" cap="none" dirty="0">
                <a:solidFill>
                  <a:srgbClr val="000000"/>
                </a:solidFill>
                <a:latin typeface="Arial"/>
                <a:ea typeface="Arial"/>
                <a:cs typeface="Arial"/>
                <a:sym typeface="Arial"/>
              </a:rPr>
              <a:t>- Sends prompts to the IBM Granite/watsonx.ai foundation model to generate questions, analyze answers, and build the skill-gap roadmap.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Model used - </a:t>
            </a:r>
            <a:r>
              <a:rPr lang="en-US" sz="1400" b="0" i="0" u="none" strike="noStrike" cap="none" dirty="0">
                <a:solidFill>
                  <a:srgbClr val="000000"/>
                </a:solidFill>
                <a:latin typeface="Arial"/>
                <a:ea typeface="Arial"/>
                <a:cs typeface="Arial"/>
                <a:sym typeface="Arial"/>
              </a:rPr>
              <a:t>Configurable via MODEL_ID (a watsonx.ai-hosted Granite/Llama instruct model) → balances quality and response speed for real-time feedback</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Feedback Panel -</a:t>
            </a:r>
            <a:r>
              <a:rPr lang="en-US" sz="1400" b="0" i="0" u="none" strike="noStrike" cap="none" dirty="0">
                <a:solidFill>
                  <a:srgbClr val="000000"/>
                </a:solidFill>
                <a:latin typeface="Arial"/>
                <a:ea typeface="Arial"/>
                <a:cs typeface="Arial"/>
                <a:sym typeface="Arial"/>
              </a:rPr>
              <a:t>Displays the AI-generated relevance score, STAR structure feedback, filler-word flag, pacing note, strengths, and improvement suggestion.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resume_parser.py - </a:t>
            </a:r>
            <a:r>
              <a:rPr lang="en-US" sz="1400" b="0" i="0" u="none" strike="noStrike" cap="none" dirty="0">
                <a:solidFill>
                  <a:srgbClr val="000000"/>
                </a:solidFill>
                <a:latin typeface="Arial"/>
                <a:ea typeface="Arial"/>
                <a:cs typeface="Arial"/>
                <a:sym typeface="Arial"/>
              </a:rPr>
              <a:t>Extracts and cleans plain text from the uploaded PDF resume using </a:t>
            </a:r>
            <a:r>
              <a:rPr lang="en-US" sz="1400" b="0" i="0" u="none" strike="noStrike" cap="none" dirty="0" err="1">
                <a:solidFill>
                  <a:srgbClr val="000000"/>
                </a:solidFill>
                <a:latin typeface="Arial"/>
                <a:ea typeface="Arial"/>
                <a:cs typeface="Arial"/>
                <a:sym typeface="Arial"/>
              </a:rPr>
              <a:t>pdfplumber</a:t>
            </a:r>
            <a:r>
              <a:rPr lang="en-US" sz="1400" b="0" i="0" u="none" strike="noStrike" cap="none" dirty="0">
                <a:solidFill>
                  <a:srgbClr val="000000"/>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6) setup_check.py </a:t>
            </a:r>
            <a:r>
              <a:rPr lang="en-US" sz="1400" b="0" i="0" u="none" strike="noStrike" cap="none" dirty="0">
                <a:solidFill>
                  <a:srgbClr val="000000"/>
                </a:solidFill>
                <a:latin typeface="Arial"/>
                <a:ea typeface="Arial"/>
                <a:cs typeface="Arial"/>
                <a:sym typeface="Arial"/>
              </a:rPr>
              <a:t>- verifies Python version, package installs, and .env credentials before the app runs.</a:t>
            </a:r>
            <a:endParaRPr dirty="0"/>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Application</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126" name="Google Shape;126;p38" descr="A screenshot of a computer&#10;&#10;AI-generated content may be incorrect."/>
          <p:cNvPicPr preferRelativeResize="0"/>
          <p:nvPr/>
        </p:nvPicPr>
        <p:blipFill rotWithShape="1">
          <a:blip r:embed="rId3">
            <a:alphaModFix/>
          </a:blip>
          <a:srcRect/>
          <a:stretch/>
        </p:blipFill>
        <p:spPr>
          <a:xfrm>
            <a:off x="361950" y="1029311"/>
            <a:ext cx="11468100" cy="550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132" name="Google Shape;132;p7"/>
          <p:cNvPicPr preferRelativeResize="0"/>
          <p:nvPr/>
        </p:nvPicPr>
        <p:blipFill rotWithShape="1">
          <a:blip r:embed="rId3">
            <a:alphaModFix/>
          </a:blip>
          <a:srcRect/>
          <a:stretch/>
        </p:blipFill>
        <p:spPr>
          <a:xfrm>
            <a:off x="535570" y="675732"/>
            <a:ext cx="11468100" cy="6181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Generative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Role of Generative AI in the Interview Prep Coach</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Generative AI</a:t>
            </a:r>
            <a:r>
              <a:rPr lang="en-US" sz="1400" b="0" i="0" u="none" strike="noStrike" cap="none">
                <a:solidFill>
                  <a:srgbClr val="000000"/>
                </a:solidFill>
                <a:latin typeface="Arial"/>
                <a:ea typeface="Arial"/>
                <a:cs typeface="Arial"/>
                <a:sym typeface="Arial"/>
              </a:rPr>
              <a:t> lets the Interview Prep Coach go beyond a static question bank. Using </a:t>
            </a:r>
            <a:r>
              <a:rPr lang="en-US" sz="1400" b="1" i="0" u="none" strike="noStrike" cap="none">
                <a:solidFill>
                  <a:srgbClr val="000000"/>
                </a:solidFill>
                <a:latin typeface="Arial"/>
                <a:ea typeface="Arial"/>
                <a:cs typeface="Arial"/>
                <a:sym typeface="Arial"/>
              </a:rPr>
              <a:t>IBM watsonx.ai</a:t>
            </a:r>
            <a:r>
              <a:rPr lang="en-US" sz="1400" b="0" i="0" u="none" strike="noStrike" cap="none">
                <a:solidFill>
                  <a:srgbClr val="000000"/>
                </a:solidFill>
                <a:latin typeface="Arial"/>
                <a:ea typeface="Arial"/>
                <a:cs typeface="Arial"/>
                <a:sym typeface="Arial"/>
              </a:rPr>
              <a:t> and the </a:t>
            </a:r>
            <a:r>
              <a:rPr lang="en-US" sz="1400" b="1" i="0" u="none" strike="noStrike" cap="none">
                <a:solidFill>
                  <a:srgbClr val="000000"/>
                </a:solidFill>
                <a:latin typeface="Arial"/>
                <a:ea typeface="Arial"/>
                <a:cs typeface="Arial"/>
                <a:sym typeface="Arial"/>
              </a:rPr>
              <a:t>IBM Granite Foundation Model</a:t>
            </a:r>
            <a:r>
              <a:rPr lang="en-US" sz="1400" b="0" i="0" u="none" strike="noStrike" cap="none">
                <a:solidFill>
                  <a:srgbClr val="000000"/>
                </a:solidFill>
                <a:latin typeface="Arial"/>
                <a:ea typeface="Arial"/>
                <a:cs typeface="Arial"/>
                <a:sym typeface="Arial"/>
              </a:rPr>
              <a:t>, it performs three distinct jobs through one shared model client.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It plays the role of the </a:t>
            </a:r>
            <a:r>
              <a:rPr lang="en-US" sz="1400" b="1" i="0" u="none" strike="noStrike" cap="none">
                <a:solidFill>
                  <a:srgbClr val="000000"/>
                </a:solidFill>
                <a:latin typeface="Arial"/>
                <a:ea typeface="Arial"/>
                <a:cs typeface="Arial"/>
                <a:sym typeface="Arial"/>
              </a:rPr>
              <a:t>interviewer</a:t>
            </a:r>
            <a:r>
              <a:rPr lang="en-US" sz="1400" b="0" i="0" u="none" strike="noStrike" cap="none">
                <a:solidFill>
                  <a:srgbClr val="000000"/>
                </a:solidFill>
                <a:latin typeface="Arial"/>
                <a:ea typeface="Arial"/>
                <a:cs typeface="Arial"/>
                <a:sym typeface="Arial"/>
              </a:rPr>
              <a:t> (crafting tailored questions), the coach (scoring and critiquing each answer), and the career advisor (mapping skill gaps against the job description) — all grounded in the candidate's own resume and target role.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model brings </a:t>
            </a:r>
            <a:r>
              <a:rPr lang="en-US" sz="1400" b="1" i="0" u="none" strike="noStrike" cap="none">
                <a:solidFill>
                  <a:srgbClr val="000000"/>
                </a:solidFill>
                <a:latin typeface="Arial"/>
                <a:ea typeface="Arial"/>
                <a:cs typeface="Arial"/>
                <a:sym typeface="Arial"/>
              </a:rPr>
              <a:t>context awareness</a:t>
            </a:r>
            <a:r>
              <a:rPr lang="en-US" sz="1400" b="0" i="0" u="none" strike="noStrike" cap="none">
                <a:solidFill>
                  <a:srgbClr val="000000"/>
                </a:solidFill>
                <a:latin typeface="Arial"/>
                <a:ea typeface="Arial"/>
                <a:cs typeface="Arial"/>
                <a:sym typeface="Arial"/>
              </a:rPr>
              <a:t>, using resume, job description, interview type, and difficulty to tailor every question and every piece of feedback. Answers are analyzed as soon as they're submitted, so </a:t>
            </a:r>
            <a:r>
              <a:rPr lang="en-US" sz="1400" b="1" i="0" u="none" strike="noStrike" cap="none">
                <a:solidFill>
                  <a:srgbClr val="000000"/>
                </a:solidFill>
                <a:latin typeface="Arial"/>
                <a:ea typeface="Arial"/>
                <a:cs typeface="Arial"/>
                <a:sym typeface="Arial"/>
              </a:rPr>
              <a:t>feedback is available in real time</a:t>
            </a:r>
            <a:r>
              <a:rPr lang="en-US"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Because question generation, answer analysis, and roadmap building all call the same Granite model, the system stays simple to reason about and easy to extend with new coaching modules.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Generative AI makes the system personalized and goal-driven, acting like a </a:t>
            </a:r>
            <a:r>
              <a:rPr lang="en-US" sz="1400" b="1" i="0" u="none" strike="noStrike" cap="none">
                <a:solidFill>
                  <a:srgbClr val="000000"/>
                </a:solidFill>
                <a:latin typeface="Arial"/>
                <a:ea typeface="Arial"/>
                <a:cs typeface="Arial"/>
                <a:sym typeface="Arial"/>
              </a:rPr>
              <a:t>patient, always-available interview coach</a:t>
            </a:r>
            <a:r>
              <a:rPr lang="en-US" sz="1400" b="0" i="0" u="none" strike="noStrike" cap="none">
                <a:solidFill>
                  <a:srgbClr val="000000"/>
                </a:solidFill>
                <a:latin typeface="Arial"/>
                <a:ea typeface="Arial"/>
                <a:cs typeface="Arial"/>
                <a:sym typeface="Arial"/>
              </a:rPr>
              <a:t> that helps candidates walk into the real interview prepared.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934F-F1CF-DE9B-1E0A-4D393FC0EEA5}"/>
              </a:ext>
            </a:extLst>
          </p:cNvPr>
          <p:cNvSpPr>
            <a:spLocks noGrp="1"/>
          </p:cNvSpPr>
          <p:nvPr>
            <p:ph type="title"/>
          </p:nvPr>
        </p:nvSpPr>
        <p:spPr/>
        <p:txBody>
          <a:bodyPr/>
          <a:lstStyle/>
          <a:p>
            <a:r>
              <a:rPr lang="en-IN" dirty="0"/>
              <a:t>Visualizing Output</a:t>
            </a:r>
          </a:p>
        </p:txBody>
      </p:sp>
      <p:pic>
        <p:nvPicPr>
          <p:cNvPr id="7" name="Picture 6">
            <a:extLst>
              <a:ext uri="{FF2B5EF4-FFF2-40B4-BE49-F238E27FC236}">
                <a16:creationId xmlns:a16="http://schemas.microsoft.com/office/drawing/2014/main" id="{DDF58D5B-2B57-5EC0-778D-A200A2321F82}"/>
              </a:ext>
            </a:extLst>
          </p:cNvPr>
          <p:cNvPicPr>
            <a:picLocks noChangeAspect="1"/>
          </p:cNvPicPr>
          <p:nvPr/>
        </p:nvPicPr>
        <p:blipFill>
          <a:blip r:embed="rId2"/>
          <a:stretch>
            <a:fillRect/>
          </a:stretch>
        </p:blipFill>
        <p:spPr>
          <a:xfrm>
            <a:off x="838200" y="1553497"/>
            <a:ext cx="10515600" cy="4725582"/>
          </a:xfrm>
          <a:prstGeom prst="rect">
            <a:avLst/>
          </a:prstGeom>
        </p:spPr>
      </p:pic>
    </p:spTree>
    <p:extLst>
      <p:ext uri="{BB962C8B-B14F-4D97-AF65-F5344CB8AC3E}">
        <p14:creationId xmlns:p14="http://schemas.microsoft.com/office/powerpoint/2010/main" val="350595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32EE6C-3C59-0012-AA9A-D18A1491B301}"/>
              </a:ext>
            </a:extLst>
          </p:cNvPr>
          <p:cNvPicPr>
            <a:picLocks noChangeAspect="1"/>
          </p:cNvPicPr>
          <p:nvPr/>
        </p:nvPicPr>
        <p:blipFill>
          <a:blip r:embed="rId2"/>
          <a:stretch>
            <a:fillRect/>
          </a:stretch>
        </p:blipFill>
        <p:spPr>
          <a:xfrm>
            <a:off x="730045" y="1159745"/>
            <a:ext cx="10515600" cy="4793151"/>
          </a:xfrm>
          <a:prstGeom prst="rect">
            <a:avLst/>
          </a:prstGeom>
        </p:spPr>
      </p:pic>
    </p:spTree>
    <p:extLst>
      <p:ext uri="{BB962C8B-B14F-4D97-AF65-F5344CB8AC3E}">
        <p14:creationId xmlns:p14="http://schemas.microsoft.com/office/powerpoint/2010/main" val="2242693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2937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The proposed Interview Prep Coach stands out by combining </a:t>
            </a:r>
            <a:r>
              <a:rPr lang="en-US" sz="1800" b="1" i="0" u="none" strike="noStrike" cap="none">
                <a:solidFill>
                  <a:srgbClr val="000000"/>
                </a:solidFill>
                <a:latin typeface="Arial"/>
                <a:ea typeface="Arial"/>
                <a:cs typeface="Arial"/>
                <a:sym typeface="Arial"/>
              </a:rPr>
              <a:t>resume-aware personalization, structured feedback, and a text-first workflow</a:t>
            </a:r>
            <a:r>
              <a:rPr lang="en-US" sz="1800" b="0" i="0" u="none" strike="noStrike" cap="none">
                <a:solidFill>
                  <a:srgbClr val="000000"/>
                </a:solidFill>
                <a:latin typeface="Arial"/>
                <a:ea typeface="Arial"/>
                <a:cs typeface="Arial"/>
                <a:sym typeface="Arial"/>
              </a:rPr>
              <a:t> into a single lightweight system.</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Resume + JD-Aware Questions</a:t>
            </a:r>
            <a:r>
              <a:rPr lang="en-US" sz="1800" b="0" i="0" u="none" strike="noStrike" cap="none">
                <a:solidFill>
                  <a:srgbClr val="000000"/>
                </a:solidFill>
                <a:latin typeface="Arial"/>
                <a:ea typeface="Arial"/>
                <a:cs typeface="Arial"/>
                <a:sym typeface="Arial"/>
              </a:rPr>
              <a:t> – Every question is generated from the candidate's actual resume and the target job description, not a static bank.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Structured, Actionable Feedback</a:t>
            </a:r>
            <a:r>
              <a:rPr lang="en-US" sz="1800" b="0" i="0" u="none" strike="noStrike" cap="none">
                <a:solidFill>
                  <a:srgbClr val="000000"/>
                </a:solidFill>
                <a:latin typeface="Arial"/>
                <a:ea typeface="Arial"/>
                <a:cs typeface="Arial"/>
                <a:sym typeface="Arial"/>
              </a:rPr>
              <a:t> – Each answer gets a relevance score, STAR-structure check, filler-word flag, and pacing note in one pass.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Company-Flavored Interviews</a:t>
            </a:r>
            <a:r>
              <a:rPr lang="en-US" sz="1800" b="0" i="0" u="none" strike="noStrike" cap="none">
                <a:solidFill>
                  <a:srgbClr val="000000"/>
                </a:solidFill>
                <a:latin typeface="Arial"/>
                <a:ea typeface="Arial"/>
                <a:cs typeface="Arial"/>
                <a:sym typeface="Arial"/>
              </a:rPr>
              <a:t> – Optionally tailors question style to a named target company using the model's general knowledge.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Text-First, Accessible UX</a:t>
            </a:r>
            <a:r>
              <a:rPr lang="en-US" sz="1800" b="0" i="0" u="none" strike="noStrike" cap="none">
                <a:solidFill>
                  <a:srgbClr val="000000"/>
                </a:solidFill>
                <a:latin typeface="Arial"/>
                <a:ea typeface="Arial"/>
                <a:cs typeface="Arial"/>
                <a:sym typeface="Arial"/>
              </a:rPr>
              <a:t> – Typed answers keep the experience fast and usable anywhere, with no microphone required.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Built-In Skill-Gap Roadmap</a:t>
            </a:r>
            <a:r>
              <a:rPr lang="en-US" sz="1800" b="0" i="0" u="none" strike="noStrike" cap="none">
                <a:solidFill>
                  <a:srgbClr val="000000"/>
                </a:solidFill>
                <a:latin typeface="Arial"/>
                <a:ea typeface="Arial"/>
                <a:cs typeface="Arial"/>
                <a:sym typeface="Arial"/>
              </a:rPr>
              <a:t> – Goes beyond mock interviews to map missing skills against the JD, with topics to study and a realistic timeline.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Single, Lightweight Model Client</a:t>
            </a:r>
            <a:r>
              <a:rPr lang="en-US" sz="1800" b="0" i="0" u="none" strike="noStrike" cap="none">
                <a:solidFill>
                  <a:srgbClr val="000000"/>
                </a:solidFill>
                <a:latin typeface="Arial"/>
                <a:ea typeface="Arial"/>
                <a:cs typeface="Arial"/>
                <a:sym typeface="Arial"/>
              </a:rPr>
              <a:t> – Question generation, feedback, and roadmap building all share one IBM watsonx.ai Granite client, keeping the architecture simple.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Scalable &amp; Enterprise-Ready</a:t>
            </a:r>
            <a:r>
              <a:rPr lang="en-US" sz="1800" b="0" i="0" u="none" strike="noStrike" cap="none">
                <a:solidFill>
                  <a:srgbClr val="000000"/>
                </a:solidFill>
                <a:latin typeface="Arial"/>
                <a:ea typeface="Arial"/>
                <a:cs typeface="Arial"/>
                <a:sym typeface="Arial"/>
              </a:rPr>
              <a:t> – Built on </a:t>
            </a:r>
            <a:r>
              <a:rPr lang="en-US" sz="1800" b="1" i="0" u="none" strike="noStrike" cap="none">
                <a:solidFill>
                  <a:srgbClr val="000000"/>
                </a:solidFill>
                <a:latin typeface="Arial"/>
                <a:ea typeface="Arial"/>
                <a:cs typeface="Arial"/>
                <a:sym typeface="Arial"/>
              </a:rPr>
              <a:t>IBM watsonx.ai</a:t>
            </a:r>
            <a:r>
              <a:rPr lang="en-US" sz="1800" b="0" i="0" u="none" strike="noStrike" cap="none">
                <a:solidFill>
                  <a:srgbClr val="000000"/>
                </a:solidFill>
                <a:latin typeface="Arial"/>
                <a:ea typeface="Arial"/>
                <a:cs typeface="Arial"/>
                <a:sym typeface="Arial"/>
              </a:rPr>
              <a:t> with the </a:t>
            </a:r>
            <a:r>
              <a:rPr lang="en-US" sz="1800" b="1" i="0" u="none" strike="noStrike" cap="none">
                <a:solidFill>
                  <a:srgbClr val="000000"/>
                </a:solidFill>
                <a:latin typeface="Arial"/>
                <a:ea typeface="Arial"/>
                <a:cs typeface="Arial"/>
                <a:sym typeface="Arial"/>
              </a:rPr>
              <a:t>IBM Granite Foundation Model</a:t>
            </a:r>
            <a:r>
              <a:rPr lang="en-US" sz="1800" b="0" i="0" u="none" strike="noStrike" cap="none">
                <a:solidFill>
                  <a:srgbClr val="000000"/>
                </a:solidFill>
                <a:latin typeface="Arial"/>
                <a:ea typeface="Arial"/>
                <a:cs typeface="Arial"/>
                <a:sym typeface="Arial"/>
              </a:rPr>
              <a:t>, ensuring reliability and governance.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This makes the solution a </a:t>
            </a:r>
            <a:r>
              <a:rPr lang="en-US" sz="1800" b="1" i="0" u="none" strike="noStrike" cap="none">
                <a:solidFill>
                  <a:srgbClr val="000000"/>
                </a:solidFill>
                <a:latin typeface="Arial"/>
                <a:ea typeface="Arial"/>
                <a:cs typeface="Arial"/>
                <a:sym typeface="Arial"/>
              </a:rPr>
              <a:t>practical, end-to-end interview-readiness coach</a:t>
            </a:r>
            <a:r>
              <a:rPr lang="en-US" sz="1800" b="0" i="0" u="none" strike="noStrike" cap="none">
                <a:solidFill>
                  <a:srgbClr val="000000"/>
                </a:solidFill>
                <a:latin typeface="Arial"/>
                <a:ea typeface="Arial"/>
                <a:cs typeface="Arial"/>
                <a:sym typeface="Arial"/>
              </a:rPr>
              <a:t>, not just a static list of practice questions.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Git Hub Link</a:t>
            </a:r>
            <a:endParaRPr sz="2400" b="1"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IN"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5761992C-CFDA-EF16-59B1-522823041920}"/>
              </a:ext>
            </a:extLst>
          </p:cNvPr>
          <p:cNvSpPr txBox="1"/>
          <p:nvPr/>
        </p:nvSpPr>
        <p:spPr>
          <a:xfrm>
            <a:off x="1218724" y="1388711"/>
            <a:ext cx="8593870" cy="1200329"/>
          </a:xfrm>
          <a:prstGeom prst="rect">
            <a:avLst/>
          </a:prstGeom>
          <a:noFill/>
        </p:spPr>
        <p:txBody>
          <a:bodyPr wrap="square">
            <a:spAutoFit/>
          </a:bodyPr>
          <a:lstStyle/>
          <a:p>
            <a:r>
              <a:rPr lang="en-IN" sz="3600" dirty="0">
                <a:hlinkClick r:id="rId3" action="ppaction://hlinkfile"/>
              </a:rPr>
              <a:t>https://github.com/MSaiAkshaya/AI-Powered-Interview-Preparation-coach-1</a:t>
            </a:r>
            <a:endParaRPr lang="en-IN"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 Voice-Answer Practice Mode –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Add an optional speech-to-text layer so candidates can practice answering out loud, while keeping typed answers as the default fast, accessible path. This would let users choose the practice style that fits their situation.</a:t>
            </a:r>
            <a:endParaRPr/>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2. Adaptive Follow-Ups &amp; Progress Tracking </a:t>
            </a:r>
            <a:r>
              <a:rPr lang="en-US" sz="1850" b="0" i="0" u="none" strike="noStrike" cap="none">
                <a:solidFill>
                  <a:srgbClr val="2B3541"/>
                </a:solidFill>
                <a:latin typeface="Times New Roman"/>
                <a:ea typeface="Times New Roman"/>
                <a:cs typeface="Times New Roman"/>
                <a:sym typeface="Times New Roman"/>
              </a:rPr>
              <a:t>–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Generate adaptive follow-up questions based on answer quality, build a final aggregate “report card” per session, and track improvement across multiple mock-interview sessions over time.</a:t>
            </a:r>
            <a:endParaRPr sz="1850" b="0" i="0" u="none" strike="noStrike" cap="non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3042B45B-B75E-9122-EE9D-63F8411D6923}"/>
              </a:ext>
            </a:extLst>
          </p:cNvPr>
          <p:cNvPicPr>
            <a:picLocks noChangeAspect="1"/>
          </p:cNvPicPr>
          <p:nvPr/>
        </p:nvPicPr>
        <p:blipFill>
          <a:blip r:embed="rId3"/>
          <a:stretch>
            <a:fillRect/>
          </a:stretch>
        </p:blipFill>
        <p:spPr>
          <a:xfrm>
            <a:off x="2192594" y="884488"/>
            <a:ext cx="7924800" cy="530000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9274AAB8-54CC-5437-74C4-C6DCAE76D7FE}"/>
              </a:ext>
            </a:extLst>
          </p:cNvPr>
          <p:cNvPicPr>
            <a:picLocks noChangeAspect="1"/>
          </p:cNvPicPr>
          <p:nvPr/>
        </p:nvPicPr>
        <p:blipFill>
          <a:blip r:embed="rId3"/>
          <a:stretch>
            <a:fillRect/>
          </a:stretch>
        </p:blipFill>
        <p:spPr>
          <a:xfrm>
            <a:off x="1759973" y="1081548"/>
            <a:ext cx="9678109" cy="56052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1493</Words>
  <Application>Microsoft Office PowerPoint</Application>
  <PresentationFormat>Widescreen</PresentationFormat>
  <Paragraphs>117</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Visualizing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M S Akshaya</cp:lastModifiedBy>
  <cp:revision>2</cp:revision>
  <dcterms:created xsi:type="dcterms:W3CDTF">2025-07-08T05:06:56Z</dcterms:created>
  <dcterms:modified xsi:type="dcterms:W3CDTF">2026-07-10T12:45:25Z</dcterms:modified>
</cp:coreProperties>
</file>